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365D"/>
                </a:solidFill>
                <a:latin typeface="Aptos Display"/>
              </a:defRPr>
            </a:pPr>
            <a:r>
              <a:t>TDMA Schedule Planner and</a:t>
            </a:r>
            <a:br/>
            <a:r>
              <a:t>EMANE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8"/>
                </a:solidFill>
              </a:defRPr>
            </a:pPr>
            <a:r>
              <a:t>Final Technical Presentation | 16-node network | 9-slot heuristic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23360"/>
            <a:ext cx="324612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Part 1</a:t>
            </a:r>
          </a:p>
          <a:p>
            <a:pPr algn="ctr">
              <a:defRPr sz="1800" b="1">
                <a:solidFill>
                  <a:srgbClr val="27784B"/>
                </a:solidFill>
              </a:defRPr>
            </a:pPr>
            <a:r>
              <a:t>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023360"/>
            <a:ext cx="324612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Part 2</a:t>
            </a:r>
          </a:p>
          <a:p>
            <a:pPr algn="ctr">
              <a:defRPr sz="1800" b="1">
                <a:solidFill>
                  <a:srgbClr val="27784B"/>
                </a:solidFill>
              </a:defRPr>
            </a:pPr>
            <a:r>
              <a:t>INTEGRATED + VALIDATED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023360"/>
            <a:ext cx="324612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t>Runtime</a:t>
            </a:r>
          </a:p>
          <a:p>
            <a:pPr algn="ctr">
              <a:defRPr sz="1800" b="1">
                <a:solidFill>
                  <a:srgbClr val="27784B"/>
                </a:solidFill>
              </a:defRPr>
            </a:pPr>
            <a:r>
              <a:t>16-NEM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1. Problem and Design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Centralized TDMA scheduling for one-hop and two-hop interference avoidance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Node coordinates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544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500 m communication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Distance-2 conflict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5544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Three greedy colorings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Slot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3832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Slot x Node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233172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Conflict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2. Part 1 Final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Fresh clean execution from sample_input.json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Nodes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79" y="1417320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Range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500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1-hop links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9" y="1417320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Conflict links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91839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TDMA slots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3291839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Reused slots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39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Max nodes / slot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9" y="3291839"/>
            <a:ext cx="242316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6978"/>
                </a:solidFill>
              </a:defRPr>
            </a:pPr>
            <a:r>
              <a:t>Verification</a:t>
            </a:r>
          </a:p>
          <a:p>
            <a:pPr algn="ctr">
              <a:defRPr sz="2300" b="1">
                <a:solidFill>
                  <a:srgbClr val="27784B"/>
                </a:solidFill>
              </a:defRPr>
            </a:pPr>
            <a:r>
              <a:t>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3. Node-to-Slot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The mapping is the interface between the optimizer and EMANE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885"/>
                <a:gridCol w="1365885"/>
                <a:gridCol w="1365885"/>
                <a:gridCol w="1365885"/>
                <a:gridCol w="1365885"/>
                <a:gridCol w="1365885"/>
                <a:gridCol w="1365885"/>
                <a:gridCol w="1365885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Node_09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Node_16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4. Spatial Reuse and Schedule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38404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Slot 5: Node_02, Node_14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Slot 6: Node_03, Node_15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Slot 7: Node_05, Node_08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Slot 8: Node_09, Node_12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Slot 9: Node_01, Node_04, Node_13, Node_16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25880"/>
          <a:ext cx="6995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06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08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09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5. Part 2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Python schedule is serialized directly into native EMANE TDMA XML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57400"/>
            <a:ext cx="1600200" cy="109728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Part 1 optimizer</a:t>
            </a:r>
          </a:p>
        </p:txBody>
      </p:sp>
      <p:sp>
        <p:nvSpPr>
          <p:cNvPr id="5" name="Chevron 4"/>
          <p:cNvSpPr/>
          <p:nvPr/>
        </p:nvSpPr>
        <p:spPr>
          <a:xfrm>
            <a:off x="2039112" y="2331720"/>
            <a:ext cx="256032" cy="502920"/>
          </a:xfrm>
          <a:prstGeom prst="chevron">
            <a:avLst/>
          </a:prstGeom>
          <a:solidFill>
            <a:srgbClr val="27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50008" y="2057400"/>
            <a:ext cx="1600200" cy="109728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Node -&gt; Slot</a:t>
            </a:r>
          </a:p>
        </p:txBody>
      </p:sp>
      <p:sp>
        <p:nvSpPr>
          <p:cNvPr id="7" name="Chevron 6"/>
          <p:cNvSpPr/>
          <p:nvPr/>
        </p:nvSpPr>
        <p:spPr>
          <a:xfrm>
            <a:off x="3977640" y="2331720"/>
            <a:ext cx="256032" cy="502920"/>
          </a:xfrm>
          <a:prstGeom prst="chevron">
            <a:avLst/>
          </a:prstGeom>
          <a:solidFill>
            <a:srgbClr val="27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8536" y="2057400"/>
            <a:ext cx="1600200" cy="109728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Python bridge</a:t>
            </a:r>
          </a:p>
        </p:txBody>
      </p:sp>
      <p:sp>
        <p:nvSpPr>
          <p:cNvPr id="9" name="Chevron 8"/>
          <p:cNvSpPr/>
          <p:nvPr/>
        </p:nvSpPr>
        <p:spPr>
          <a:xfrm>
            <a:off x="5916168" y="2331720"/>
            <a:ext cx="256032" cy="502920"/>
          </a:xfrm>
          <a:prstGeom prst="chevron">
            <a:avLst/>
          </a:prstGeom>
          <a:solidFill>
            <a:srgbClr val="27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7064" y="2057400"/>
            <a:ext cx="1600200" cy="109728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Native EMANE XML</a:t>
            </a:r>
          </a:p>
        </p:txBody>
      </p:sp>
      <p:sp>
        <p:nvSpPr>
          <p:cNvPr id="11" name="Chevron 10"/>
          <p:cNvSpPr/>
          <p:nvPr/>
        </p:nvSpPr>
        <p:spPr>
          <a:xfrm>
            <a:off x="7854696" y="2331720"/>
            <a:ext cx="256032" cy="502920"/>
          </a:xfrm>
          <a:prstGeom prst="chevron">
            <a:avLst/>
          </a:prstGeom>
          <a:solidFill>
            <a:srgbClr val="27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5592" y="2057400"/>
            <a:ext cx="1600200" cy="109728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TDMA publisher</a:t>
            </a:r>
          </a:p>
        </p:txBody>
      </p:sp>
      <p:sp>
        <p:nvSpPr>
          <p:cNvPr id="13" name="Chevron 12"/>
          <p:cNvSpPr/>
          <p:nvPr/>
        </p:nvSpPr>
        <p:spPr>
          <a:xfrm>
            <a:off x="9793224" y="2331720"/>
            <a:ext cx="256032" cy="502920"/>
          </a:xfrm>
          <a:prstGeom prst="chevron">
            <a:avLst/>
          </a:prstGeom>
          <a:solidFill>
            <a:srgbClr val="27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04120" y="2057400"/>
            <a:ext cx="1600200" cy="109728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16-NEM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Native schedule: 1 ms slot duration | 1 frame | 9 slots | 1 MHz bandwidth | class=0 | 2.4 GHz frequency | 1M datarate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6. 16-NEM EMANE Runtime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Clean final publication of the regenerated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371600"/>
          <a:ext cx="9784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  <a:gridCol w="489204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NEM 1-16 scheduleAcceptFull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 for every NEM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scheduleRejectFrameIndexRange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 for every NEM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scheduleRejectOther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 for every NEM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scheduleRejectSlotIndexRange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 for every NEM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scheduleRejectUpdateBeforeFull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 for every NEM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56235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84B"/>
                </a:solidFill>
              </a:defRPr>
            </a:pPr>
            <a:r>
              <a:t>RESULT: the regenerated Python-produced schedule was accepted by all 16 NEMs with zero tested schedule rejections.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7. Packet-Level EMANE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NEM 1 -&gt; NEM 2 traffic after schedule installation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29184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Test frames generated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29184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NEM 2 processedUpstreamPackets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417320"/>
            <a:ext cx="329184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NEM 2 numRxSlotValid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83280"/>
            <a:ext cx="329184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NEM 2 interface RX packets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383280"/>
            <a:ext cx="329184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NEM 2 scheduleAcceptFull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383280"/>
            <a:ext cx="329184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NEM 2 scheduleRejectOther</a:t>
            </a:r>
          </a:p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Counters are cumulative; the 64 RX/valid-slot value is not interpreted as a 50-packet delivery percentage.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8. Tests and Technical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30352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Chain test: two-hop conflict handling - PASS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Spatial reuse test - PASS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500 m boundary test - PASS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16-node final scheduler run - PASS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16-NEM EMANE schedule acceptance - PASS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NEM 1 -&gt; NEM 2 packet path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25880"/>
            <a:ext cx="512064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Explain why shortest-path distance &lt;= 2 defines the conflict graph.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Explain communication links versus conflict links.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Explain why greedy coloring is heuristic.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Explain how slot reuse is safe under the conflict graph.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Explain how the Python bridge maps nodes into EMANE slots.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Explain scheduleAcceptFull and scheduleReject statistics.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9. Final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34440"/>
            <a:ext cx="10332720" cy="685800"/>
          </a:xfrm>
          <a:prstGeom prst="roundRect">
            <a:avLst/>
          </a:prstGeom>
          <a:solidFill>
            <a:srgbClr val="27784B"/>
          </a:solidFill>
          <a:ln>
            <a:solidFill>
              <a:srgbClr val="27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Part 1: Complete and independently verified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10332720" cy="685800"/>
          </a:xfrm>
          <a:prstGeom prst="roundRect">
            <a:avLst/>
          </a:prstGeom>
          <a:solidFill>
            <a:srgbClr val="27784B"/>
          </a:solidFill>
          <a:ln>
            <a:solidFill>
              <a:srgbClr val="27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Part 2 bridge: Complete and regenerated from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54680"/>
            <a:ext cx="10332720" cy="685800"/>
          </a:xfrm>
          <a:prstGeom prst="roundRect">
            <a:avLst/>
          </a:prstGeom>
          <a:solidFill>
            <a:srgbClr val="27784B"/>
          </a:solidFill>
          <a:ln>
            <a:solidFill>
              <a:srgbClr val="27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16-NEM runtime: All schedules accepted; zero tested rejects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332720" cy="685800"/>
          </a:xfrm>
          <a:prstGeom prst="roundRect">
            <a:avLst/>
          </a:prstGeom>
          <a:solidFill>
            <a:srgbClr val="27784B"/>
          </a:solidFill>
          <a:ln>
            <a:solidFill>
              <a:srgbClr val="27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Packet test: Traffic observed from NEM 1 to NEM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0332720" cy="685800"/>
          </a:xfrm>
          <a:prstGeom prst="roundRect">
            <a:avLst/>
          </a:prstGeom>
          <a:solidFill>
            <a:srgbClr val="EEF4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Submission package: README + PDF + PPT + source +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65683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978"/>
                </a:solidFill>
              </a:defRPr>
            </a:pPr>
            <a:r>
              <a:t>TDMA Schedule Planner and EMANE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638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