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7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76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724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 in one sentence: first solve the 16-node TDMA scheduling problem, then carry that schedule into EMANE for integration and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problem first, then the expected technical flow. Avoid going into implementation details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 the documented network values. Then explain why the conflict graph is needed: TDMA slot sharing is decided by conflict relationships, not simply by node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graph coloring maps naturally to slot allocation: each color represents a TDMA slot. Mention the three tested strategies, local optimization, and explicit verification. State that the solution is heuristic.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consolidated schedule analysis figure. Point out 16 nodes, 9 slots, 5 reused slots, maximum 4 nodes in one slot, and conflict verification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 exact mapping. Highlight Node_01 = Slot 9 because it is used in the later EMANE enforcement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Slots 5, 6, 7, 8 and 9 are reused. The nodes shown in each group are non-conflicting in the distance-2 graph, so the slot can be 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key Part 2 explanation. The important point is the interface: the Part 1 Node-to-Slot mapping is converted to an EMANE TDMA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configuration values that matter to understanding the test, then state the documented acceptance result: all 16 NEMs accepted the regenerated schedule and tested rejection counters remained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mapping Node_01 → Slot 9 → EMANE zero-based index 8. Then compare the two clean test cases: allowed gives 17 upstream packets; blocked gives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Briefly explain the module boundaries. Keep this slide focused on understanding the project structure, not on reading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Conclude with the end-to-end story. Be ready to expand verbally on the four technical takeaways and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1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58368" y="731520"/>
            <a:ext cx="73152" cy="51206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868680"/>
            <a:ext cx="7680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rPr dirty="0"/>
              <a:t>TDMA Schedule Planner</a:t>
            </a:r>
            <a:br>
              <a:rPr dirty="0"/>
            </a:br>
            <a:r>
              <a:rPr dirty="0"/>
              <a:t>and EMANE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267712"/>
            <a:ext cx="6675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AD7E1"/>
                </a:solidFill>
                <a:latin typeface="Aptos"/>
              </a:defRPr>
            </a:pPr>
            <a:r>
              <a:rPr dirty="0"/>
              <a:t>Technical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951977"/>
            <a:ext cx="59436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rPr sz="2500" dirty="0"/>
              <a:t>Candidate: Thamarai Kannan P</a:t>
            </a:r>
            <a:endParaRPr lang="en-US" sz="2500" dirty="0"/>
          </a:p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endParaRPr sz="2500" dirty="0"/>
          </a:p>
        </p:txBody>
      </p:sp>
      <p:sp>
        <p:nvSpPr>
          <p:cNvPr id="6" name="TextBox 5"/>
          <p:cNvSpPr txBox="1"/>
          <p:nvPr/>
        </p:nvSpPr>
        <p:spPr>
          <a:xfrm>
            <a:off x="1045464" y="345186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B5C6D2"/>
                </a:solidFill>
                <a:latin typeface="Aptos"/>
              </a:defRPr>
            </a:pPr>
            <a:r>
              <a:rPr dirty="0"/>
              <a:t>Part 1: TDMA Scheduling   |   Part 2: EMANE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14884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49640" y="2148840"/>
            <a:ext cx="50292" cy="12344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14232" y="2267712"/>
            <a:ext cx="2386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232" y="2569464"/>
            <a:ext cx="2386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47E8B"/>
                </a:solidFill>
                <a:latin typeface="Aptos"/>
              </a:defRPr>
            </a:pPr>
            <a:r>
              <a:rPr dirty="0"/>
              <a:t>16-node TDMA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365760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49640" y="3657600"/>
            <a:ext cx="50292" cy="12344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14232" y="3776472"/>
            <a:ext cx="2386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232" y="4078224"/>
            <a:ext cx="2386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C5B80"/>
                </a:solidFill>
                <a:latin typeface="Aptos"/>
              </a:defRPr>
            </a:pPr>
            <a:r>
              <a:rPr dirty="0"/>
              <a:t>EMANE approach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989320"/>
            <a:ext cx="8869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AABCC8"/>
                </a:solidFill>
                <a:latin typeface="Aptos"/>
              </a:defRPr>
            </a:pPr>
            <a:r>
              <a:rPr dirty="0"/>
              <a:t>Technical explanation • documented results • implementation evidence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5198151-6A76-0C49-7BAD-B1DE40D2A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 animBg="1"/>
      <p:bldP spid="8" grpId="0" animBg="1"/>
      <p:bldP spid="9" grpId="0" build="allAtOnce"/>
      <p:bldP spid="10" grpId="0" build="allAtOnce"/>
      <p:bldP spid="11" grpId="0" animBg="1"/>
      <p:bldP spid="12" grpId="0" animBg="1"/>
      <p:bldP spid="13" grpId="0" build="allAtOnce"/>
      <p:bldP spid="14" grpId="0" build="allAtOnce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Project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What the project is designed to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22133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Allocate TDMA transmission slots to 16 nodes.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Prevent modeled one-hop and two-hop conflicts.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Reuse slots where nodes are non-conflicting.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Carry the final schedule into an EMANE runtime.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22133"/>
                </a:solidFill>
                <a:latin typeface="Aptos"/>
              </a:defRPr>
            </a:pPr>
            <a:r>
              <a:t>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Build and verify a conflict graph.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Generate a conflict-free TDMA assignment.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Convert the mapping into an EMANE TDMA schedule.</a:t>
            </a:r>
          </a:p>
          <a:p>
            <a:pPr>
              <a:spcAft>
                <a:spcPts val="800"/>
              </a:spcAft>
              <a:defRPr sz="1600">
                <a:solidFill>
                  <a:srgbClr val="23292F"/>
                </a:solidFill>
                <a:latin typeface="Aptos"/>
              </a:defRPr>
            </a:pPr>
            <a:r>
              <a:t>• Validate schedule behavior with controlled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389120"/>
            <a:ext cx="29260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4400" y="4389120"/>
            <a:ext cx="50292" cy="10058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4507992"/>
            <a:ext cx="2615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809744"/>
            <a:ext cx="26151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B80"/>
                </a:solidFill>
                <a:latin typeface="Aptos"/>
              </a:defRPr>
            </a:pPr>
            <a:r>
              <a:rPr dirty="0"/>
              <a:t>16-node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29260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17720" y="4389120"/>
            <a:ext cx="50292" cy="10058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82312" y="4507992"/>
            <a:ext cx="2615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CORE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4809744"/>
            <a:ext cx="26151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47E8B"/>
                </a:solidFill>
                <a:latin typeface="Aptos"/>
              </a:defRPr>
            </a:pPr>
            <a:r>
              <a:rPr dirty="0"/>
              <a:t>9-slot schedule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389120"/>
            <a:ext cx="292608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321040" y="4389120"/>
            <a:ext cx="50292" cy="10058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85632" y="4507992"/>
            <a:ext cx="2615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4809744"/>
            <a:ext cx="26151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B80"/>
                </a:solidFill>
                <a:latin typeface="Aptos"/>
              </a:defRPr>
            </a:pPr>
            <a:r>
              <a:rPr dirty="0"/>
              <a:t>EMANE runtime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BD2AC68-4B1D-EC77-5B4A-241E9837C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118" y="313556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build="allAtOnce"/>
      <p:bldP spid="15" grpId="0" build="allAtOnce"/>
      <p:bldP spid="16" grpId="0" animBg="1"/>
      <p:bldP spid="17" grpId="0" animBg="1"/>
      <p:bldP spid="18" grpId="0" build="allAtOnce"/>
      <p:bldP spid="19" grpId="0" build="allAtOnce"/>
      <p:bldP spid="20" grpId="0" animBg="1"/>
      <p:bldP spid="21" grpId="0" animBg="1"/>
      <p:bldP spid="22" grpId="0" build="allAtOnce"/>
      <p:bldP spid="23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Network &amp; Conflict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The scheduling constraint is represented as a distance-2 conflict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2487168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50292" cy="1115568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417319"/>
            <a:ext cx="21762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NODES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5B80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298448"/>
            <a:ext cx="2487168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29000" y="1298448"/>
            <a:ext cx="50292" cy="1115568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3592" y="1417319"/>
            <a:ext cx="21762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COMMUNICATION 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17190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5B80"/>
                </a:solidFill>
                <a:latin typeface="Aptos"/>
              </a:defRPr>
            </a:pPr>
            <a:r>
              <a:t>500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98448"/>
            <a:ext cx="2487168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1298448"/>
            <a:ext cx="50292" cy="1115568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1417319"/>
            <a:ext cx="21762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DIRECT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7190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7E8B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1298448"/>
            <a:ext cx="2487168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39" y="1298448"/>
            <a:ext cx="50292" cy="1115568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71431" y="1417319"/>
            <a:ext cx="21762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DISTANCE-2 CONFLICT LINKS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1" y="1719072"/>
            <a:ext cx="21762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7E8B"/>
                </a:solidFill>
                <a:latin typeface="Aptos"/>
              </a:defRPr>
            </a:pPr>
            <a: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22133"/>
                </a:solidFill>
                <a:latin typeface="Aptos"/>
              </a:defRPr>
            </a:pPr>
            <a:r>
              <a:t>How conflicts are defined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291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>
                <a:solidFill>
                  <a:srgbClr val="23292F"/>
                </a:solidFill>
                <a:latin typeface="Aptos"/>
              </a:defRPr>
            </a:pPr>
            <a:r>
              <a:t>• The network is converted into a conflict graph.</a:t>
            </a:r>
          </a:p>
          <a:p>
            <a:pPr>
              <a:spcAft>
                <a:spcPts val="800"/>
              </a:spcAft>
              <a:defRPr sz="1550">
                <a:solidFill>
                  <a:srgbClr val="23292F"/>
                </a:solidFill>
                <a:latin typeface="Aptos"/>
              </a:defRPr>
            </a:pPr>
            <a:r>
              <a:t>• Conflicting nodes cannot be assigned the same slot.</a:t>
            </a:r>
          </a:p>
          <a:p>
            <a:pPr>
              <a:spcAft>
                <a:spcPts val="800"/>
              </a:spcAft>
              <a:defRPr sz="1550">
                <a:solidFill>
                  <a:srgbClr val="23292F"/>
                </a:solidFill>
                <a:latin typeface="Aptos"/>
              </a:defRPr>
            </a:pPr>
            <a:r>
              <a:t>• Distance-2 modeling includes direct and two-hop conflict relationships.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3291840"/>
            <a:ext cx="438912" cy="438912"/>
          </a:xfrm>
          <a:prstGeom prst="ellipse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3822191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22133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28" name="Oval 27"/>
          <p:cNvSpPr/>
          <p:nvPr/>
        </p:nvSpPr>
        <p:spPr>
          <a:xfrm>
            <a:off x="7635240" y="2743200"/>
            <a:ext cx="438912" cy="438912"/>
          </a:xfrm>
          <a:prstGeom prst="ellipse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16952" y="327355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22133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30" name="Oval 29"/>
          <p:cNvSpPr/>
          <p:nvPr/>
        </p:nvSpPr>
        <p:spPr>
          <a:xfrm>
            <a:off x="8869680" y="3291840"/>
            <a:ext cx="438912" cy="438912"/>
          </a:xfrm>
          <a:prstGeom prst="ellipse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51392" y="3822191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22133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32" name="Oval 31"/>
          <p:cNvSpPr/>
          <p:nvPr/>
        </p:nvSpPr>
        <p:spPr>
          <a:xfrm>
            <a:off x="7635240" y="3977639"/>
            <a:ext cx="438912" cy="438912"/>
          </a:xfrm>
          <a:prstGeom prst="ellipse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16952" y="450799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22133"/>
                </a:solidFill>
                <a:latin typeface="Aptos"/>
              </a:defRPr>
            </a:pPr>
            <a:r>
              <a:t>N</a:t>
            </a:r>
          </a:p>
        </p:txBody>
      </p:sp>
      <p:sp>
        <p:nvSpPr>
          <p:cNvPr id="34" name="Oval 33"/>
          <p:cNvSpPr/>
          <p:nvPr/>
        </p:nvSpPr>
        <p:spPr>
          <a:xfrm>
            <a:off x="9784080" y="3977639"/>
            <a:ext cx="438912" cy="438912"/>
          </a:xfrm>
          <a:prstGeom prst="ellipse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65792" y="450799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22133"/>
                </a:solidFill>
                <a:latin typeface="Aptos"/>
              </a:defRPr>
            </a:pPr>
            <a:r>
              <a:t>N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6629400" y="2944368"/>
            <a:ext cx="1234440" cy="548640"/>
          </a:xfrm>
          <a:prstGeom prst="line">
            <a:avLst/>
          </a:prstGeom>
          <a:ln w="22860">
            <a:solidFill>
              <a:srgbClr val="505C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863840" y="2944368"/>
            <a:ext cx="1234440" cy="548640"/>
          </a:xfrm>
          <a:prstGeom prst="line">
            <a:avLst/>
          </a:prstGeom>
          <a:ln w="22860">
            <a:solidFill>
              <a:srgbClr val="505C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863840" y="2944368"/>
            <a:ext cx="0" cy="1234440"/>
          </a:xfrm>
          <a:prstGeom prst="line">
            <a:avLst/>
          </a:prstGeom>
          <a:ln w="22860">
            <a:solidFill>
              <a:srgbClr val="505C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98280" y="3493008"/>
            <a:ext cx="914400" cy="685800"/>
          </a:xfrm>
          <a:prstGeom prst="line">
            <a:avLst/>
          </a:prstGeom>
          <a:ln w="22860">
            <a:solidFill>
              <a:srgbClr val="505C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Picture 39" descr="tdma_spatial_reuse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709160" cy="1143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7D3EE00-84A3-381B-DE9C-401F98A10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3" grpId="0"/>
      <p:bldP spid="34" grpId="0" animBg="1"/>
      <p:bldP spid="3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TDMA Scheduling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From conflict graph to verified slot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901952" cy="658368"/>
          </a:xfrm>
          <a:prstGeom prst="roundRect">
            <a:avLst/>
          </a:prstGeom>
          <a:solidFill>
            <a:srgbClr val="F5F8FA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80" b="1">
                <a:solidFill>
                  <a:srgbClr val="122133"/>
                </a:solidFill>
                <a:latin typeface="Aptos"/>
              </a:defRPr>
            </a:pPr>
            <a:r>
              <a:t>1. Build conflict 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417320"/>
            <a:ext cx="1901952" cy="658368"/>
          </a:xfrm>
          <a:prstGeom prst="roundRect">
            <a:avLst/>
          </a:prstGeom>
          <a:solidFill>
            <a:srgbClr val="F5F8FA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80" b="1">
                <a:solidFill>
                  <a:srgbClr val="122133"/>
                </a:solidFill>
                <a:latin typeface="Aptos"/>
              </a:defRPr>
            </a:pPr>
            <a:r>
              <a:t>2. Apply graph coloring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75504" y="1417320"/>
            <a:ext cx="1901952" cy="658368"/>
          </a:xfrm>
          <a:prstGeom prst="roundRect">
            <a:avLst/>
          </a:prstGeom>
          <a:solidFill>
            <a:srgbClr val="F5F8FA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80" b="1">
                <a:solidFill>
                  <a:srgbClr val="122133"/>
                </a:solidFill>
                <a:latin typeface="Aptos"/>
              </a:defRPr>
            </a:pPr>
            <a:r>
              <a:t>3. Generate initial slots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43215" y="1417320"/>
            <a:ext cx="1901952" cy="658368"/>
          </a:xfrm>
          <a:prstGeom prst="roundRect">
            <a:avLst/>
          </a:prstGeom>
          <a:solidFill>
            <a:srgbClr val="F5F8FA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80" b="1">
                <a:solidFill>
                  <a:srgbClr val="122133"/>
                </a:solidFill>
                <a:latin typeface="Aptos"/>
              </a:defRPr>
            </a:pPr>
            <a:r>
              <a:t>4. Local 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10928" y="1417320"/>
            <a:ext cx="1901952" cy="658368"/>
          </a:xfrm>
          <a:prstGeom prst="roundRect">
            <a:avLst/>
          </a:prstGeom>
          <a:solidFill>
            <a:srgbClr val="F5F8FA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80" b="1">
                <a:solidFill>
                  <a:srgbClr val="122133"/>
                </a:solidFill>
                <a:latin typeface="Aptos"/>
              </a:defRPr>
            </a:pPr>
            <a:r>
              <a:t>5. Verify every conflict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22133"/>
                </a:solidFill>
                <a:latin typeface="Aptos"/>
              </a:defRPr>
            </a:pPr>
            <a:r>
              <a:t>Coloring strategies tested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63240"/>
            <a:ext cx="42976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0292" cy="73152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182112"/>
            <a:ext cx="3986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STRATEGY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483864"/>
            <a:ext cx="39867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5B80"/>
                </a:solidFill>
                <a:latin typeface="Aptos"/>
              </a:defRPr>
            </a:pPr>
            <a:r>
              <a:t>Largest First (LF)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77639"/>
            <a:ext cx="42976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3977639"/>
            <a:ext cx="50292" cy="73152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2" y="4096511"/>
            <a:ext cx="3986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STRATEGY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398264"/>
            <a:ext cx="39867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5B80"/>
                </a:solidFill>
                <a:latin typeface="Aptos"/>
              </a:defRPr>
            </a:pPr>
            <a:r>
              <a:t>Smallest Last (SL)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892040"/>
            <a:ext cx="42976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4892040"/>
            <a:ext cx="50292" cy="73152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" y="5010912"/>
            <a:ext cx="3986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STRATEGY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5312664"/>
            <a:ext cx="39867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47E8B"/>
                </a:solidFill>
                <a:latin typeface="Aptos"/>
              </a:defRPr>
            </a:pPr>
            <a:r>
              <a:t>Saturation Largest First (SLF)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260604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23560" y="2606040"/>
            <a:ext cx="50292" cy="141732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88152" y="2724912"/>
            <a:ext cx="5084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3026664"/>
            <a:ext cx="50840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47E8B"/>
                </a:solidFill>
                <a:latin typeface="Aptos"/>
              </a:defRPr>
            </a:pPr>
            <a:r>
              <a:t>Fewest-slot result among tested strategies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88152" y="3520440"/>
            <a:ext cx="50840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The selected coloring is followed by local optimization.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42976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623560" y="4297680"/>
            <a:ext cx="50292" cy="141732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88152" y="4416552"/>
            <a:ext cx="5084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88152" y="4718304"/>
            <a:ext cx="50840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67E5B"/>
                </a:solidFill>
                <a:latin typeface="Aptos"/>
              </a:defRPr>
            </a:pPr>
            <a:r>
              <a:t>Conflict-free 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5212080"/>
            <a:ext cx="50840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Every edge in the distance-2 conflict graph is checked.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8064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AF4545"/>
                </a:solidFill>
                <a:latin typeface="Aptos"/>
              </a:defRPr>
            </a:pPr>
            <a:r>
              <a:t>Heuristic result — not a proof of minimum slots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E8D6381-786F-8335-7E00-BACF271F9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 animBg="1"/>
      <p:bldP spid="23" grpId="0" animBg="1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Final Schedule — Key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The verified output of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05</a:t>
            </a:r>
          </a:p>
        </p:txBody>
      </p:sp>
      <p:pic>
        <p:nvPicPr>
          <p:cNvPr id="8" name="Picture 7" descr="tdma_part1_analysis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11201400" cy="53218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F7E27E-B093-EC13-1D18-220D1A79A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Node-to-Slot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Exact mapping used for the final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64008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1221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Slot</a:t>
                      </a:r>
                    </a:p>
                  </a:txBody>
                  <a:tcPr>
                    <a:solidFill>
                      <a:srgbClr val="1221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1221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Slot</a:t>
                      </a:r>
                    </a:p>
                  </a:txBody>
                  <a:tcPr>
                    <a:solidFill>
                      <a:srgbClr val="1221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Node_01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Node_09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Node_03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Node_11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Node_05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Node_13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Node_07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Node_15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Node_16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3292F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498079" y="1600200"/>
            <a:ext cx="3566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79" y="1600200"/>
            <a:ext cx="50292" cy="12344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62671" y="1719072"/>
            <a:ext cx="32552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SCHEDULE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2020824"/>
            <a:ext cx="3255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247E8B"/>
                </a:solidFill>
                <a:latin typeface="Aptos"/>
              </a:defRPr>
            </a:pPr>
            <a:r>
              <a:t>9 slots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154680"/>
            <a:ext cx="3566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79" y="3154680"/>
            <a:ext cx="50292" cy="12344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62671" y="3273552"/>
            <a:ext cx="32552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REUSE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1" y="3575304"/>
            <a:ext cx="3255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2C5B80"/>
                </a:solidFill>
                <a:latin typeface="Aptos"/>
              </a:defRPr>
            </a:pPr>
            <a:r>
              <a:t>5 slots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709160"/>
            <a:ext cx="35661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98079" y="4709160"/>
            <a:ext cx="50292" cy="12344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62671" y="4828032"/>
            <a:ext cx="32552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MAXIMUM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1" y="5129784"/>
            <a:ext cx="3255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47E8B"/>
                </a:solidFill>
                <a:latin typeface="Aptos"/>
              </a:defRPr>
            </a:pPr>
            <a:r>
              <a:t>Slot 9 → 4 nodes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B648952-2491-AAA1-3021-DFB385120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Spatial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Why multiple nodes can share the same TDMA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8" name="Picture 7" descr="tdma_spatial_reuse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11155680" cy="5029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EA5786-A425-55A0-5FB6-D2E1089213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Python → EMANE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The Part 1 schedule becomes the Part 2 runtime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19202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0292" cy="10058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581912"/>
            <a:ext cx="1609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8366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B80"/>
                </a:solidFill>
                <a:latin typeface="Aptos"/>
              </a:defRPr>
            </a:pPr>
            <a:r>
              <a:t>Node-to-Slot</a:t>
            </a:r>
            <a:br/>
            <a:r>
              <a:t>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7830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463040"/>
            <a:ext cx="19202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8920" y="1463040"/>
            <a:ext cx="50292" cy="10058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3512" y="1581912"/>
            <a:ext cx="1609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188366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47E8B"/>
                </a:solidFill>
                <a:latin typeface="Aptos"/>
              </a:defRPr>
            </a:pPr>
            <a:r>
              <a:t>generate_emane_schedule.py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7830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1463040"/>
            <a:ext cx="19202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74920" y="1463040"/>
            <a:ext cx="50292" cy="10058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39512" y="1581912"/>
            <a:ext cx="1609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188366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B80"/>
                </a:solidFill>
                <a:latin typeface="Aptos"/>
              </a:defRPr>
            </a:pPr>
            <a:r>
              <a:t>emane_tdma_schedule.xml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17830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1463040"/>
            <a:ext cx="19202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60920" y="1463040"/>
            <a:ext cx="50292" cy="10058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5512" y="1581912"/>
            <a:ext cx="1609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2" y="188366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47E8B"/>
                </a:solidFill>
                <a:latin typeface="Aptos"/>
              </a:defRPr>
            </a:pPr>
            <a:r>
              <a:t>EMANE Event-TDMA</a:t>
            </a:r>
            <a:br/>
            <a:r>
              <a:t>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17830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1463040"/>
            <a:ext cx="19202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46920" y="1463040"/>
            <a:ext cx="50292" cy="10058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11512" y="1581912"/>
            <a:ext cx="16093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188366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B80"/>
                </a:solidFill>
                <a:latin typeface="Aptos"/>
              </a:defRPr>
            </a:pPr>
            <a:r>
              <a:t>16-NEM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3246120"/>
            <a:ext cx="49377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3246120"/>
            <a:ext cx="50292" cy="169164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78992" y="3364991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PYTHON ROLE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3666744"/>
            <a:ext cx="46268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Schedule generation + XML conversion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4160520"/>
            <a:ext cx="4626864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Uses the final Node-to-Slot mapping as the bridge input.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3246120"/>
            <a:ext cx="49377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3246120"/>
            <a:ext cx="50292" cy="169164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19672" y="3364991"/>
            <a:ext cx="46268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EMANE ROLE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9672" y="3666744"/>
            <a:ext cx="46268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47E8B"/>
                </a:solidFill>
                <a:latin typeface="Aptos"/>
              </a:defRPr>
            </a:pPr>
            <a:r>
              <a:t>Load schedule + runtime behavior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9672" y="4160520"/>
            <a:ext cx="4626864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The generated event-TDMA schedule is loaded into the 16-NEM runtime.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57784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50" b="1">
                <a:solidFill>
                  <a:srgbClr val="122133"/>
                </a:solidFill>
                <a:latin typeface="Aptos"/>
              </a:defRPr>
            </a:pPr>
            <a:r>
              <a:t>Scheduler output → EMANE schedule → runtime validation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30D6298-1E4C-1E65-DCB8-A1FEA5FD6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/>
      <p:bldP spid="37" grpId="0" animBg="1"/>
      <p:bldP spid="38" grpId="0" animBg="1"/>
      <p:bldP spid="39" grpId="0"/>
      <p:bldP spid="40" grpId="0"/>
      <p:bldP spid="41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EMANE Runtime Configuration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Documented runtime settings and acceptance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61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261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1380743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NEMS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82495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61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261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53712" y="1380743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SLOT 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682495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1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261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261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1380743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682495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404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2404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2523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TDMA SLOTS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825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2404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0" y="2404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53712" y="2523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FREQUENCY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825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2.4 GHz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2404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2404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94192" y="2523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BANDWIDTH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2825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1 MHz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547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547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3666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DATA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3968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1 Mbit/s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3547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120" y="3547872"/>
            <a:ext cx="50292" cy="91440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53712" y="3666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SERVICE CLASS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968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B80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3547872"/>
            <a:ext cx="34564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29600" y="3547872"/>
            <a:ext cx="50292" cy="91440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94192" y="3666744"/>
            <a:ext cx="3145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SCHEDULEACCEPTFULL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3968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47E8B"/>
                </a:solidFill>
                <a:latin typeface="Aptos"/>
              </a:defRPr>
            </a:pPr>
            <a:r>
              <a:t>1 for NEMs 1–16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0" y="4983480"/>
            <a:ext cx="3108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97280" y="4983480"/>
            <a:ext cx="50292" cy="91440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261872" y="5102352"/>
            <a:ext cx="2798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TESTED REJECTION COUNTERS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61872" y="5404104"/>
            <a:ext cx="27980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67E5B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0" y="4983480"/>
            <a:ext cx="3108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526280" y="4983480"/>
            <a:ext cx="50292" cy="91440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690872" y="5102352"/>
            <a:ext cx="2798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NEM SCHEDULE ACCEPTANCE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0872" y="5404104"/>
            <a:ext cx="27980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67E5B"/>
                </a:solidFill>
                <a:latin typeface="Aptos"/>
              </a:defRPr>
            </a:pPr>
            <a:r>
              <a:t>16 / 16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55279" y="4983480"/>
            <a:ext cx="3108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955279" y="4983480"/>
            <a:ext cx="50292" cy="91440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19871" y="5102352"/>
            <a:ext cx="2798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RUNTIME 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19871" y="5404104"/>
            <a:ext cx="27980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67E5B"/>
                </a:solidFill>
                <a:latin typeface="Aptos"/>
              </a:defRPr>
            </a:pPr>
            <a:r>
              <a:t>ACCEPTED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A52CBE-F6C4-9606-0971-D37F3FB72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 animBg="1"/>
      <p:bldP spid="25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  <p:bldP spid="37" grpId="0" animBg="1"/>
      <p:bldP spid="38" grpId="0"/>
      <p:bldP spid="39" grpId="0"/>
      <p:bldP spid="40" grpId="0" animBg="1"/>
      <p:bldP spid="41" grpId="0" animBg="1"/>
      <p:bldP spid="42" grpId="0"/>
      <p:bldP spid="43" grpId="0"/>
      <p:bldP spid="44" grpId="0" animBg="1"/>
      <p:bldP spid="45" grpId="0" animBg="1"/>
      <p:bldP spid="46" grpId="0"/>
      <p:bldP spid="47" grpId="0"/>
      <p:bldP spid="48" grpId="0" animBg="1"/>
      <p:bldP spid="49" grpId="0" animBg="1"/>
      <p:bldP spid="50" grpId="0"/>
      <p:bldP spid="51" grpId="0"/>
      <p:bldP spid="52" grpId="0" animBg="1"/>
      <p:bldP spid="53" grpId="0" animBg="1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Packet-Level Enforcement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Controlled comparison of allowed and blocked 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417320"/>
            <a:ext cx="3383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1417320"/>
            <a:ext cx="50292" cy="82296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1536192"/>
            <a:ext cx="30723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NODE_01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183794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5B80"/>
                </a:solidFill>
                <a:latin typeface="Aptos"/>
              </a:defRPr>
            </a:pPr>
            <a:r>
              <a:t>TDMA Slot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459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417320"/>
            <a:ext cx="30175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92040" y="1417320"/>
            <a:ext cx="50292" cy="82296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56631" y="1536192"/>
            <a:ext cx="27066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EMANE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1" y="1837944"/>
            <a:ext cx="27066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47E8B"/>
                </a:solidFill>
                <a:latin typeface="Aptos"/>
              </a:defRPr>
            </a:pPr>
            <a:r>
              <a:t>8 (zero-based)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459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505C6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417320"/>
            <a:ext cx="2514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458200" y="1417320"/>
            <a:ext cx="50292" cy="82296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22792" y="1536192"/>
            <a:ext cx="22037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TX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837944"/>
            <a:ext cx="2203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5B80"/>
                </a:solidFill>
                <a:latin typeface="Aptos"/>
              </a:defRPr>
            </a:pPr>
            <a:r>
              <a:t>controlled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2834640"/>
            <a:ext cx="4983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" y="2834640"/>
            <a:ext cx="50292" cy="201168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78992" y="2953512"/>
            <a:ext cx="4672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ALLOWED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255264"/>
            <a:ext cx="4672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67E5B"/>
                </a:solidFill>
                <a:latin typeface="Aptos"/>
              </a:defRPr>
            </a:pPr>
            <a:r>
              <a:t>50 frames → 17 packets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3749039"/>
            <a:ext cx="467258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NEM 1 has a TX opportunity in the corresponding TDMA slot.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34640"/>
            <a:ext cx="4983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2834640"/>
            <a:ext cx="50292" cy="2011680"/>
          </a:xfrm>
          <a:prstGeom prst="rect">
            <a:avLst/>
          </a:prstGeom>
          <a:solidFill>
            <a:srgbClr val="A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2953512"/>
            <a:ext cx="4672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BLOCKED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255264"/>
            <a:ext cx="4672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AF4545"/>
                </a:solidFill>
                <a:latin typeface="Aptos"/>
              </a:defRPr>
            </a:pPr>
            <a:r>
              <a:t>50 frames → 0 packets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749039"/>
            <a:ext cx="467258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The corresponding TX opportunity is removed in a clean run.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29000" y="5257800"/>
            <a:ext cx="5303520" cy="594360"/>
          </a:xfrm>
          <a:prstGeom prst="roundRect">
            <a:avLst/>
          </a:prstGeom>
          <a:solidFill>
            <a:srgbClr val="122133"/>
          </a:solidFill>
          <a:ln>
            <a:solidFill>
              <a:srgbClr val="1221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66160" y="541324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ENFORCEMENT RESULT: PASS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AA91E75-9359-0AEA-C55D-2EDA465F3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/>
      <p:bldP spid="11" grpId="0"/>
      <p:bldP spid="12" grpId="0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 animBg="1"/>
      <p:bldP spid="23" grpId="0" animBg="1"/>
      <p:bldP spid="24" grpId="0"/>
      <p:bldP spid="25" grpId="0"/>
      <p:bldP spid="26" grpId="0"/>
      <p:bldP spid="27" grpId="0" animBg="1"/>
      <p:bldP spid="28" grpId="0" animBg="1"/>
      <p:bldP spid="29" grpId="0"/>
      <p:bldP spid="30" grpId="0"/>
      <p:bldP spid="31" grpId="0"/>
      <p:bldP spid="32" grpId="0" animBg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Implementation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How the solution is organized in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22133"/>
                </a:solidFill>
                <a:latin typeface="Aptos"/>
              </a:defRPr>
            </a:pPr>
            <a:r>
              <a:t>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main.py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773936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End-to-end Part 1 execution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8775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graph_builder.py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578608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Communication and distance-2 conflict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92424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coloring.py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383280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Graph-coloring strategies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9709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scheduler.py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187952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Slot numbering and local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01768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verifier.py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992624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Conflict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22133"/>
                </a:solidFill>
                <a:latin typeface="Aptos"/>
              </a:defRPr>
            </a:pPr>
            <a:r>
              <a:t>EMANE /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7830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generate_emane_schedule.py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1773936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Node-to-Slot → EMANE 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87752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send_tdma_test.py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578608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Raw Ethernet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392424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validate_emane.py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383280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Generated XML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19709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30" b="1">
                <a:solidFill>
                  <a:srgbClr val="247E8B"/>
                </a:solidFill>
                <a:latin typeface="Aptos"/>
              </a:defRPr>
            </a:pPr>
            <a:r>
              <a:t>Part2_Enforcement_Evidence.txt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87952"/>
            <a:ext cx="3063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80" b="0">
                <a:solidFill>
                  <a:srgbClr val="505C67"/>
                </a:solidFill>
                <a:latin typeface="Aptos"/>
              </a:defRPr>
            </a:pPr>
            <a:r>
              <a:t>Allowed / blocked evidence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AAB96A6-879C-AFF1-FF95-F7AED4B69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22133"/>
                </a:solidFill>
                <a:latin typeface="Aptos"/>
              </a:defRPr>
            </a:pPr>
            <a:r>
              <a:t>Conclusion &amp; Technical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05C67"/>
                </a:solidFill>
                <a:latin typeface="Aptos"/>
              </a:defRPr>
            </a:pPr>
            <a:r>
              <a:t>The complete project story in four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420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47E8B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19" b="0">
                <a:solidFill>
                  <a:srgbClr val="505C67"/>
                </a:solidFill>
                <a:latin typeface="Aptos"/>
              </a:defRPr>
            </a:pPr>
            <a:r>
              <a:t>TDMA Schedule Planner and EMANE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05C6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257860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0292" cy="1417320"/>
          </a:xfrm>
          <a:prstGeom prst="rect">
            <a:avLst/>
          </a:prstGeom>
          <a:solidFill>
            <a:srgbClr val="2C5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1490472"/>
            <a:ext cx="22677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rPr dirty="0"/>
              <a:t>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2C5B80"/>
                </a:solidFill>
                <a:latin typeface="Aptos"/>
              </a:defRPr>
            </a:pPr>
            <a:r>
              <a:rPr dirty="0"/>
              <a:t>16 nodes → 9 slots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1371600"/>
            <a:ext cx="257860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47288" y="1371600"/>
            <a:ext cx="50292" cy="141732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11880" y="1490472"/>
            <a:ext cx="22677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792224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267E5B"/>
                </a:solidFill>
                <a:latin typeface="Aptos"/>
              </a:defRPr>
            </a:pPr>
            <a:r>
              <a:rPr dirty="0"/>
              <a:t>Conflict verification →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1371600"/>
            <a:ext cx="257860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0216" y="1371600"/>
            <a:ext cx="50292" cy="1417320"/>
          </a:xfrm>
          <a:prstGeom prst="rect">
            <a:avLst/>
          </a:prstGeom>
          <a:solidFill>
            <a:srgbClr val="24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4808" y="1490472"/>
            <a:ext cx="22677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1792224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247E8B"/>
                </a:solidFill>
                <a:latin typeface="Aptos"/>
              </a:defRPr>
            </a:pPr>
            <a:r>
              <a:t>Python mapping → EMANE TDMA schedule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371600"/>
            <a:ext cx="257860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53144" y="1371600"/>
            <a:ext cx="50292" cy="1417320"/>
          </a:xfrm>
          <a:prstGeom prst="rect">
            <a:avLst/>
          </a:prstGeom>
          <a:solidFill>
            <a:srgbClr val="267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17736" y="1490472"/>
            <a:ext cx="22677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505C67"/>
                </a:solidFill>
                <a:latin typeface="Aptos"/>
              </a:defRPr>
            </a:pPr>
            <a:r>
              <a:t>ENFORCEMENT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1792224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267E5B"/>
                </a:solidFill>
                <a:latin typeface="Aptos"/>
              </a:defRPr>
            </a:pPr>
            <a:r>
              <a:t>17 allowed → 0 blocked-case packets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50" b="1">
                <a:solidFill>
                  <a:srgbClr val="122133"/>
                </a:solidFill>
                <a:latin typeface="Aptos"/>
              </a:defRPr>
            </a:pPr>
            <a:r>
              <a:t>What I should be able to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730752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Why graph coloring is used for TDMA slot assignment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Why distance-2 conflicts are modeled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Why the reused-slot nodes do not conflict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Why 9 slots is a heuristic result, not a proven minimum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50" b="1">
                <a:solidFill>
                  <a:srgbClr val="122133"/>
                </a:solidFill>
                <a:latin typeface="Aptos"/>
              </a:defRPr>
            </a:pPr>
            <a:r>
              <a:t>What the evidence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30752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The final schedule is verified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The regenerated schedule was accepted by 16 NEMs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Tested rejection counters remained zero</a:t>
            </a:r>
          </a:p>
          <a:p>
            <a:pPr>
              <a:spcAft>
                <a:spcPts val="800"/>
              </a:spcAft>
              <a:defRPr sz="1380">
                <a:solidFill>
                  <a:srgbClr val="23292F"/>
                </a:solidFill>
                <a:latin typeface="Aptos"/>
              </a:defRPr>
            </a:pPr>
            <a:r>
              <a:t>• The controlled allowed / blocked test changed packet behavior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59D37FE-EB47-91F2-F8B4-F560DF055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327272"/>
            <a:ext cx="3055722" cy="8333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5" grpId="0"/>
      <p:bldP spid="6" grpId="0"/>
      <p:bldP spid="7" grpId="0"/>
      <p:bldP spid="8" grpId="0" animBg="1"/>
      <p:bldP spid="9" grpId="0" animBg="1"/>
      <p:bldP spid="10" grpId="0" build="allAtOnce"/>
      <p:bldP spid="11" grpId="0" build="allAtOnce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29CA56-098D-7B7D-9ED7-978D77795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8139" y="1902563"/>
            <a:ext cx="3055722" cy="8333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DEFB7E-E319-D19D-96C0-E9144231701F}"/>
              </a:ext>
            </a:extLst>
          </p:cNvPr>
          <p:cNvSpPr txBox="1"/>
          <p:nvPr/>
        </p:nvSpPr>
        <p:spPr>
          <a:xfrm>
            <a:off x="4231506" y="2735942"/>
            <a:ext cx="4256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44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1243</Words>
  <Application>Microsoft Office PowerPoint</Application>
  <PresentationFormat>Widescreen</PresentationFormat>
  <Paragraphs>269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Thamarai kannan</dc:creator>
  <cp:keywords/>
  <dc:description>generated using python-pptx</dc:description>
  <cp:lastModifiedBy>Thamarai kannan</cp:lastModifiedBy>
  <cp:revision>2</cp:revision>
  <dcterms:created xsi:type="dcterms:W3CDTF">2013-01-27T09:14:16Z</dcterms:created>
  <dcterms:modified xsi:type="dcterms:W3CDTF">2026-09-26T04:57:49Z</dcterms:modified>
  <cp:category/>
</cp:coreProperties>
</file>